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a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0"/>
            <a:ext cx="633953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yclo-i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"/>
            <a:ext cx="960120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50292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D4A0"/>
                </a:solidFill>
                <a:latin typeface="Calibri"/>
              </a:rPr>
              <a:t>CYCLO.IA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21208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FFFFFF"/>
                </a:solidFill>
                <a:latin typeface="Calibri"/>
              </a:rPr>
              <a:t>O tempo </a:t>
            </a:r>
            <a:r>
              <a:rPr lang="pt-BR" sz="3600" b="1" dirty="0" smtClean="0">
                <a:solidFill>
                  <a:srgbClr val="FFFFFF"/>
                </a:solidFill>
                <a:latin typeface="Calibri"/>
              </a:rPr>
              <a:t>da ação</a:t>
            </a:r>
            <a:r>
              <a:rPr sz="3600" b="1" dirty="0" smtClean="0">
                <a:solidFill>
                  <a:srgbClr val="FFFFFF"/>
                </a:solidFill>
                <a:latin typeface="Calibri"/>
              </a:rPr>
              <a:t>,</a:t>
            </a:r>
            <a:endParaRPr sz="3600" b="1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dirty="0" err="1">
                <a:solidFill>
                  <a:srgbClr val="FFFFFF"/>
                </a:solidFill>
                <a:latin typeface="Calibri"/>
              </a:rPr>
              <a:t>medido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 e </a:t>
            </a:r>
            <a:r>
              <a:rPr sz="3600" b="1" dirty="0" err="1">
                <a:solidFill>
                  <a:srgbClr val="FFFFFF"/>
                </a:solidFill>
                <a:latin typeface="Calibri"/>
              </a:rPr>
              <a:t>quantificado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2120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B7C7BE"/>
                </a:solidFill>
                <a:latin typeface="Calibri"/>
              </a:rPr>
              <a:t>Cronometragem</a:t>
            </a:r>
            <a:r>
              <a:rPr sz="1600" b="0" dirty="0">
                <a:solidFill>
                  <a:srgbClr val="B7C7B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B7C7BE"/>
                </a:solidFill>
                <a:latin typeface="Calibri"/>
              </a:rPr>
              <a:t>operacional</a:t>
            </a:r>
            <a:r>
              <a:rPr sz="1600" b="0" dirty="0">
                <a:solidFill>
                  <a:srgbClr val="B7C7BE"/>
                </a:solidFill>
                <a:latin typeface="Calibri"/>
              </a:rPr>
              <a:t> com </a:t>
            </a:r>
            <a:r>
              <a:rPr sz="1600" b="0" dirty="0" err="1">
                <a:solidFill>
                  <a:srgbClr val="B7C7BE"/>
                </a:solidFill>
                <a:latin typeface="Calibri"/>
              </a:rPr>
              <a:t>inteligência</a:t>
            </a:r>
            <a:r>
              <a:rPr sz="1600" b="0" dirty="0">
                <a:solidFill>
                  <a:srgbClr val="B7C7BE"/>
                </a:solidFill>
                <a:latin typeface="Calibri"/>
              </a:rPr>
              <a:t> artificial. </a:t>
            </a:r>
            <a:endParaRPr lang="pt-BR" sz="1600" b="0" dirty="0" smtClean="0">
              <a:solidFill>
                <a:srgbClr val="B7C7B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600" b="1" dirty="0">
              <a:solidFill>
                <a:srgbClr val="2DD4A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5102352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2000" dirty="0" smtClean="0">
                <a:solidFill>
                  <a:srgbClr val="FFFFFF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Erico Guerreiro</a:t>
            </a:r>
          </a:p>
          <a:p>
            <a:r>
              <a:rPr lang="pt-BR" sz="2000" dirty="0">
                <a:solidFill>
                  <a:srgbClr val="FFFFFF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Bruno Samways dos </a:t>
            </a:r>
            <a:r>
              <a:rPr lang="pt-BR" sz="2000" dirty="0" smtClean="0">
                <a:solidFill>
                  <a:srgbClr val="FFFFFF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Santos</a:t>
            </a:r>
          </a:p>
          <a:p>
            <a:r>
              <a:rPr lang="pt-BR" sz="2000" dirty="0" smtClean="0">
                <a:solidFill>
                  <a:srgbClr val="FFFFFF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Cleiton Adriano Rosa Machado</a:t>
            </a:r>
          </a:p>
          <a:p>
            <a:r>
              <a:rPr lang="pt-BR" sz="2000" dirty="0">
                <a:solidFill>
                  <a:srgbClr val="FFFFFF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Reginaldo Fidelis </a:t>
            </a:r>
            <a:endParaRPr sz="2000" dirty="0">
              <a:solidFill>
                <a:srgbClr val="FFFFFF"/>
              </a:solidFill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200" b="0" dirty="0">
              <a:solidFill>
                <a:srgbClr val="B7C7B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5138928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600" b="1" dirty="0">
              <a:solidFill>
                <a:srgbClr val="2DD4A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5138928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5376672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200" b="0" dirty="0">
              <a:solidFill>
                <a:srgbClr val="B7C7B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5797296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600" b="1" dirty="0">
              <a:solidFill>
                <a:srgbClr val="2DD4A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yclo-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712" y="164592"/>
            <a:ext cx="420624" cy="4206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2C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D4A0"/>
                </a:solidFill>
                <a:latin typeface="Calibri"/>
              </a:rPr>
              <a:t>ROTEIRO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 que vamos percorrer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73152" cy="1371600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73352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DD4A0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70992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O desafio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130552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B7C7BE"/>
                </a:solidFill>
                <a:latin typeface="Calibri"/>
              </a:rPr>
              <a:t>Por</a:t>
            </a:r>
            <a:r>
              <a:rPr sz="1500" b="0" dirty="0">
                <a:solidFill>
                  <a:srgbClr val="B7C7BE"/>
                </a:solidFill>
                <a:latin typeface="Calibri"/>
              </a:rPr>
              <a:t> que o </a:t>
            </a:r>
            <a:r>
              <a:rPr sz="1500" b="0" dirty="0" err="1">
                <a:solidFill>
                  <a:srgbClr val="B7C7BE"/>
                </a:solidFill>
                <a:latin typeface="Calibri"/>
              </a:rPr>
              <a:t>cronômetro</a:t>
            </a:r>
            <a:r>
              <a:rPr sz="1500" b="0" dirty="0">
                <a:solidFill>
                  <a:srgbClr val="B7C7BE"/>
                </a:solidFill>
                <a:latin typeface="Calibri"/>
              </a:rPr>
              <a:t> </a:t>
            </a:r>
            <a:r>
              <a:rPr lang="pt-BR" sz="1500" dirty="0" smtClean="0">
                <a:solidFill>
                  <a:srgbClr val="B7C7BE"/>
                </a:solidFill>
                <a:latin typeface="Calibri"/>
              </a:rPr>
              <a:t>manual</a:t>
            </a:r>
            <a:r>
              <a:rPr sz="1500" b="0" dirty="0" smtClean="0">
                <a:solidFill>
                  <a:srgbClr val="B7C7B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B7C7BE"/>
                </a:solidFill>
                <a:latin typeface="Calibri"/>
              </a:rPr>
              <a:t>limita</a:t>
            </a:r>
            <a:r>
              <a:rPr sz="1500" b="0" dirty="0">
                <a:solidFill>
                  <a:srgbClr val="B7C7BE"/>
                </a:solidFill>
                <a:latin typeface="Calibri"/>
              </a:rPr>
              <a:t> a </a:t>
            </a:r>
            <a:r>
              <a:rPr sz="1500" b="0" dirty="0" err="1">
                <a:solidFill>
                  <a:srgbClr val="B7C7BE"/>
                </a:solidFill>
                <a:latin typeface="Calibri"/>
              </a:rPr>
              <a:t>decisão</a:t>
            </a:r>
            <a:r>
              <a:rPr sz="1500" b="0" dirty="0">
                <a:solidFill>
                  <a:srgbClr val="B7C7BE"/>
                </a:solidFill>
                <a:latin typeface="Calibr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41732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59" y="1417320"/>
            <a:ext cx="73152" cy="1371600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399" y="1673352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DD4A0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170992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Objetivo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130552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7C7BE"/>
                </a:solidFill>
                <a:latin typeface="Calibri"/>
              </a:rPr>
              <a:t>O que o Cyclo.ia se propõe a entregar.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97180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2971800"/>
            <a:ext cx="73152" cy="1371600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227832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DD4A0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26440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Funcionalidades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685032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7C7BE"/>
                </a:solidFill>
                <a:latin typeface="Calibri"/>
              </a:rPr>
              <a:t>Como a atividade vira medição e relatório.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297180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59" y="2971800"/>
            <a:ext cx="73152" cy="1371600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399" y="3227832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DD4A0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26440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Resultados do piloto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685032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7C7BE"/>
                </a:solidFill>
                <a:latin typeface="Calibri"/>
              </a:rPr>
              <a:t>Números reais de uma montagem filmada.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52628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4526280"/>
            <a:ext cx="73152" cy="1371600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782312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8B84A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81888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Dados quantificados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239512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7C7BE"/>
                </a:solidFill>
                <a:latin typeface="Calibri"/>
              </a:rPr>
              <a:t>O que a empresa passa a conseguir decidir.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59" y="452628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59" y="4526280"/>
            <a:ext cx="73152" cy="1371600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29399" y="4782312"/>
            <a:ext cx="10058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8B84A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481888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5239512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B7C7BE"/>
                </a:solidFill>
                <a:latin typeface="Calibri"/>
              </a:rPr>
              <a:t>Como </a:t>
            </a:r>
            <a:r>
              <a:rPr sz="1500" b="0" dirty="0" err="1">
                <a:solidFill>
                  <a:srgbClr val="B7C7BE"/>
                </a:solidFill>
                <a:latin typeface="Calibri"/>
              </a:rPr>
              <a:t>levar</a:t>
            </a:r>
            <a:r>
              <a:rPr sz="1500" b="0" dirty="0">
                <a:solidFill>
                  <a:srgbClr val="B7C7BE"/>
                </a:solidFill>
                <a:latin typeface="Calibri"/>
              </a:rPr>
              <a:t> o </a:t>
            </a:r>
            <a:r>
              <a:rPr sz="1500" b="0" dirty="0" err="1">
                <a:solidFill>
                  <a:srgbClr val="B7C7BE"/>
                </a:solidFill>
                <a:latin typeface="Calibri"/>
              </a:rPr>
              <a:t>método</a:t>
            </a:r>
            <a:r>
              <a:rPr sz="1500" b="0" dirty="0">
                <a:solidFill>
                  <a:srgbClr val="B7C7BE"/>
                </a:solidFill>
                <a:latin typeface="Calibri"/>
              </a:rPr>
              <a:t> para um </a:t>
            </a:r>
            <a:r>
              <a:rPr sz="1500" b="0" dirty="0" err="1">
                <a:solidFill>
                  <a:srgbClr val="B7C7BE"/>
                </a:solidFill>
                <a:latin typeface="Calibri"/>
              </a:rPr>
              <a:t>posto</a:t>
            </a:r>
            <a:r>
              <a:rPr sz="1500" b="0" dirty="0">
                <a:solidFill>
                  <a:srgbClr val="B7C7BE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B7C7BE"/>
                </a:solidFill>
                <a:latin typeface="Calibri"/>
              </a:rPr>
              <a:t>vocês</a:t>
            </a:r>
            <a:r>
              <a:rPr sz="1500" b="0" dirty="0">
                <a:solidFill>
                  <a:srgbClr val="B7C7B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yclo-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712" y="164592"/>
            <a:ext cx="420624" cy="4206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2C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D4A0"/>
                </a:solidFill>
                <a:latin typeface="Calibri"/>
              </a:rPr>
              <a:t>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 err="1">
                <a:solidFill>
                  <a:srgbClr val="FFFFFF"/>
                </a:solidFill>
                <a:latin typeface="Calibri"/>
              </a:rPr>
              <a:t>Medir</a:t>
            </a:r>
            <a:r>
              <a:rPr sz="3000" b="1" dirty="0">
                <a:solidFill>
                  <a:srgbClr val="FFFFFF"/>
                </a:solidFill>
                <a:latin typeface="Calibri"/>
              </a:rPr>
              <a:t> o </a:t>
            </a:r>
            <a:r>
              <a:rPr sz="3000" b="1" dirty="0" err="1">
                <a:solidFill>
                  <a:srgbClr val="FFFFFF"/>
                </a:solidFill>
                <a:latin typeface="Calibri"/>
              </a:rPr>
              <a:t>trabalho</a:t>
            </a:r>
            <a:r>
              <a:rPr sz="3000" b="1" dirty="0">
                <a:solidFill>
                  <a:srgbClr val="FFFFFF"/>
                </a:solidFill>
                <a:latin typeface="Calibri"/>
              </a:rPr>
              <a:t> real e </a:t>
            </a:r>
            <a:r>
              <a:rPr lang="pt-BR" sz="3000" b="1" dirty="0" smtClean="0">
                <a:solidFill>
                  <a:srgbClr val="FFFFFF"/>
                </a:solidFill>
                <a:latin typeface="Calibri"/>
              </a:rPr>
              <a:t>entregar dados </a:t>
            </a:r>
            <a:endParaRPr sz="3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83112" cy="1463040"/>
          </a:xfrm>
          <a:prstGeom prst="roundRect">
            <a:avLst>
              <a:gd name="adj" fmla="val 6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D4A0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572768"/>
            <a:ext cx="905256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Medir o que acontece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029967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7C7BE"/>
                </a:solidFill>
                <a:latin typeface="Calibri"/>
              </a:rPr>
              <a:t>Cronometrar os movimentos do posto: ciclo, montagem, busca de peça, deslocamento, espera e interrupção. A regra do que conta como ciclo é definida pela engenharia, no prompt da atividade.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71800"/>
            <a:ext cx="11183112" cy="1463040"/>
          </a:xfrm>
          <a:prstGeom prst="roundRect">
            <a:avLst>
              <a:gd name="adj" fmla="val 6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227832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D4A0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172968"/>
            <a:ext cx="905256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Consolidar a amostra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630168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7C7BE"/>
                </a:solidFill>
                <a:latin typeface="Calibri"/>
              </a:rPr>
              <a:t>Vários vídeos do mesmo posto entram em fila. Ao final, cada movimento tem quantidade de amostras, média, mínimo e máximo. A variação fica visível, junto com a média.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72000"/>
            <a:ext cx="11183112" cy="1463040"/>
          </a:xfrm>
          <a:prstGeom prst="roundRect">
            <a:avLst>
              <a:gd name="adj" fmla="val 6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2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D4A0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773168"/>
            <a:ext cx="905256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Sustentar a decisão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230368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7C7BE"/>
                </a:solidFill>
                <a:latin typeface="Calibri"/>
              </a:rPr>
              <a:t>O relatório vira base para tempo de referência, leitura de perdas, capacidade do posto, custo do ciclo e comparação antes e depois de um ajuste de método.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yclo-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712" y="164592"/>
            <a:ext cx="420624" cy="4206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2C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D4A0"/>
                </a:solidFill>
                <a:latin typeface="Calibri"/>
              </a:rPr>
              <a:t>FUNCIONALIDADES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 que o sistema faz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657600" cy="224028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8952" y="1664208"/>
            <a:ext cx="420624" cy="73152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42316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Nome do posto, contexto da operação e o prompt com os movimentos e o critério de ciclo fechado.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371600"/>
            <a:ext cx="3657600" cy="224028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99432" y="1664208"/>
            <a:ext cx="420624" cy="73152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1901952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Vídeos em lote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42316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Vários registros da mesma função. A amostra cresce sem remontar o estudo do zero.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371600"/>
            <a:ext cx="3657600" cy="224028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39912" y="1664208"/>
            <a:ext cx="420624" cy="73152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39912" y="1901952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Esteira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42316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Análise de um vídeo por vez, com progresso visível, até o lote terminar.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94760"/>
            <a:ext cx="3657600" cy="224028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8952" y="4087368"/>
            <a:ext cx="420624" cy="73152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325112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Cronometragem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84632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Para cada movimento: início, fim, duração em segundos, status e uma nota do que foi visto.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794760"/>
            <a:ext cx="3657600" cy="224028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99432" y="4087368"/>
            <a:ext cx="420624" cy="73152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2" y="4325112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Consolidação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84632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Média, mínimo, máximo e número de amostras por movimento, no relatório final.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794760"/>
            <a:ext cx="3657600" cy="224028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439912" y="4087368"/>
            <a:ext cx="420624" cy="73152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39912" y="4325112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Governança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4846320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Vídeo com retenção padrão de 72 horas. O tempo medido permanece; a gravação não fica indefinida.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yclo-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712" y="164592"/>
            <a:ext cx="420624" cy="4206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2C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D4A0"/>
                </a:solidFill>
                <a:latin typeface="Calibri"/>
              </a:rPr>
              <a:t>O QUE FICA QUANTIFICADO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Cada movimento vira um registro auditável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7452360" cy="585216"/>
          </a:xfrm>
          <a:prstGeom prst="roundRect">
            <a:avLst>
              <a:gd name="adj" fmla="val 5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298448"/>
            <a:ext cx="196596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D4A0"/>
                </a:solidFill>
                <a:latin typeface="Calibri"/>
              </a:rPr>
              <a:t>Movimento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298448"/>
            <a:ext cx="502920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3F7F4"/>
                </a:solidFill>
                <a:latin typeface="Calibri"/>
              </a:rPr>
              <a:t>Nome estável entre os vídeos: montagem, busca de peças, interrupção.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56815"/>
            <a:ext cx="7452360" cy="585216"/>
          </a:xfrm>
          <a:prstGeom prst="roundRect">
            <a:avLst>
              <a:gd name="adj" fmla="val 5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956815"/>
            <a:ext cx="196596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D4A0"/>
                </a:solidFill>
                <a:latin typeface="Calibri"/>
              </a:rPr>
              <a:t>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956815"/>
            <a:ext cx="502920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3F7F4"/>
                </a:solidFill>
                <a:latin typeface="Calibri"/>
              </a:rPr>
              <a:t>Completo, parcial ou não encontrado. O trabalho visível permanece medido.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15184"/>
            <a:ext cx="7452360" cy="585216"/>
          </a:xfrm>
          <a:prstGeom prst="roundRect">
            <a:avLst>
              <a:gd name="adj" fmla="val 5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615184"/>
            <a:ext cx="196596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D4A0"/>
                </a:solidFill>
                <a:latin typeface="Calibri"/>
              </a:rPr>
              <a:t>Início e fim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615184"/>
            <a:ext cx="502920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3F7F4"/>
                </a:solidFill>
                <a:latin typeface="Calibri"/>
              </a:rPr>
              <a:t>Timestamp no vídeo, para a engenharia conferir a marcação.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73552"/>
            <a:ext cx="7452360" cy="585216"/>
          </a:xfrm>
          <a:prstGeom prst="roundRect">
            <a:avLst>
              <a:gd name="adj" fmla="val 5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273552"/>
            <a:ext cx="196596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D4A0"/>
                </a:solidFill>
                <a:latin typeface="Calibri"/>
              </a:rPr>
              <a:t>Duração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273552"/>
            <a:ext cx="502920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3F7F4"/>
                </a:solidFill>
                <a:latin typeface="Calibri"/>
              </a:rPr>
              <a:t>Segundos do trecho. A soma produtiva separa o que gerou ocupação.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31920"/>
            <a:ext cx="7452360" cy="585216"/>
          </a:xfrm>
          <a:prstGeom prst="roundRect">
            <a:avLst>
              <a:gd name="adj" fmla="val 5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931920"/>
            <a:ext cx="196596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D4A0"/>
                </a:solidFill>
                <a:latin typeface="Calibri"/>
              </a:rPr>
              <a:t>Nota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931920"/>
            <a:ext cx="502920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3F7F4"/>
                </a:solidFill>
                <a:latin typeface="Calibri"/>
              </a:rPr>
              <a:t>Descrição objetiva do que o operador fez naquele intervalo.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90288"/>
            <a:ext cx="7452360" cy="585216"/>
          </a:xfrm>
          <a:prstGeom prst="roundRect">
            <a:avLst>
              <a:gd name="adj" fmla="val 5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590288"/>
            <a:ext cx="196596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D4A0"/>
                </a:solidFill>
                <a:latin typeface="Calibri"/>
              </a:rPr>
              <a:t>Amostra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590288"/>
            <a:ext cx="502920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3F7F4"/>
                </a:solidFill>
                <a:latin typeface="Calibri"/>
              </a:rPr>
              <a:t>Quantidade, média, mínimo e máximo do mesmo movimento no lote.</a:t>
            </a:r>
          </a:p>
        </p:txBody>
      </p:sp>
      <p:pic>
        <p:nvPicPr>
          <p:cNvPr id="28" name="Picture 27" descr="anali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98448"/>
            <a:ext cx="3547872" cy="199339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138160" y="3401568"/>
            <a:ext cx="3547872" cy="1847088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3529584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Princípio de medição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041648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Se o ciclo oficial não fecha, o trabalho visível — montar, buscar, esperar — continua com tempo maior que zero.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349240"/>
            <a:ext cx="11155680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É essa separação que torna o dado útil: o tempo produtivo, a perda e o ciclo que ainda não ocorreu ficam em linhas diferentes, com nome estável de um vídeo para o outro.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yclo-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712" y="164592"/>
            <a:ext cx="420624" cy="4206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2C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68096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EA398"/>
                </a:solidFill>
                <a:latin typeface="Calibri"/>
              </a:rPr>
              <a:t>Piloto realizado em 16 de setembro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601968"/>
            <a:ext cx="235915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EA398"/>
                </a:solidFill>
                <a:latin typeface="Calibri"/>
              </a:rPr>
              <a:t>8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D4A0"/>
                </a:solidFill>
                <a:latin typeface="Calibri"/>
              </a:rPr>
              <a:t>PILOTO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Montagem de ferramenta, em posto filmado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7C7BE"/>
                </a:solidFill>
                <a:latin typeface="Calibri"/>
              </a:rPr>
              <a:t>A engenharia definiu a regra. O Cyclo.ia aplicou a mesma regra em todos os vídeos do lote.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3657600" cy="182880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2221991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D4A0"/>
                </a:solidFill>
                <a:latin typeface="Calibri"/>
              </a:rPr>
              <a:t>Posto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679191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Montagem de ferramenta em bancada, com manuseio de componentes.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65960"/>
            <a:ext cx="3657600" cy="182880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2221991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D4A0"/>
                </a:solidFill>
                <a:latin typeface="Calibri"/>
              </a:rPr>
              <a:t>Ciclo oficial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79191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Concluído no instante em que o operador aciona a maçaneta prateada.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965960"/>
            <a:ext cx="3657600" cy="182880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2221991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D4A0"/>
                </a:solidFill>
                <a:latin typeface="Calibri"/>
              </a:rPr>
              <a:t>Quem medir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679191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Um operador, indicado por critério visual no prompt da atividade.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3657600" cy="182880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423367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D4A0"/>
                </a:solidFill>
                <a:latin typeface="Calibri"/>
              </a:rPr>
              <a:t>Amostra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690872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5 vídeos no lote principal. Uma reanálise de 1 vídeo em atividade separada.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977639"/>
            <a:ext cx="3657600" cy="182880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9432" y="423367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D4A0"/>
                </a:solidFill>
                <a:latin typeface="Calibri"/>
              </a:rPr>
              <a:t>Processamento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690872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5 de 5 e 1 de 1 concluídos, sem falha de lote.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977639"/>
            <a:ext cx="3657600" cy="182880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9912" y="423367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D4A0"/>
                </a:solidFill>
                <a:latin typeface="Calibri"/>
              </a:rPr>
              <a:t>Modelo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4690872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Análise de vídeo com Gemini, em esteira, um arquivo por vez.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yclo-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712" y="164592"/>
            <a:ext cx="420624" cy="4206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2C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D4A0"/>
                </a:solidFill>
                <a:latin typeface="Calibri"/>
              </a:rPr>
              <a:t>A ANÁLISE EM IMAGEM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891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 que o tempo separado representa</a:t>
            </a:r>
          </a:p>
        </p:txBody>
      </p:sp>
      <p:pic>
        <p:nvPicPr>
          <p:cNvPr id="10" name="Picture 9" descr="montage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36576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4133087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Montagem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8056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B84A"/>
                </a:solidFill>
                <a:latin typeface="Calibri"/>
              </a:rPr>
              <a:t>202 segundos  ·  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28032"/>
            <a:ext cx="36576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Ocupação principal da bancada. Medida em todos os vídeos, mesmo sem o acionamento da maçaneta.</a:t>
            </a:r>
          </a:p>
        </p:txBody>
      </p:sp>
      <p:pic>
        <p:nvPicPr>
          <p:cNvPr id="14" name="Picture 13" descr="busc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280160"/>
            <a:ext cx="3657600" cy="274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43400" y="4133087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Busca de 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48056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B84A"/>
                </a:solidFill>
                <a:latin typeface="Calibri"/>
              </a:rPr>
              <a:t>9 segundos  ·  média 3,0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828032"/>
            <a:ext cx="36576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Movimento curto e estável. Nas três ocorrências, durou entre 2 e 4 segundos.</a:t>
            </a:r>
          </a:p>
        </p:txBody>
      </p:sp>
      <p:pic>
        <p:nvPicPr>
          <p:cNvPr id="18" name="Picture 17" descr="paus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280160"/>
            <a:ext cx="3657600" cy="274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83880" y="4133087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Interrupção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448056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B84A"/>
                </a:solidFill>
                <a:latin typeface="Calibri"/>
              </a:rPr>
              <a:t>10 segundos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828032"/>
            <a:ext cx="36576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Conversa identificada em um vídeo e retirada da soma do tempo produtivo.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yclo-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712" y="164592"/>
            <a:ext cx="420624" cy="4206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2C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D4A0"/>
                </a:solidFill>
                <a:latin typeface="Calibri"/>
              </a:rPr>
              <a:t>RESULTADOS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891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FFFFFF"/>
                </a:solidFill>
                <a:latin typeface="Calibri"/>
              </a:rPr>
              <a:t>O que </a:t>
            </a:r>
            <a:r>
              <a:rPr sz="3000" b="1" dirty="0" err="1">
                <a:solidFill>
                  <a:srgbClr val="FFFFFF"/>
                </a:solidFill>
                <a:latin typeface="Calibri"/>
              </a:rPr>
              <a:t>cada</a:t>
            </a:r>
            <a:r>
              <a:rPr sz="3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Calibri"/>
              </a:rPr>
              <a:t>vídeo</a:t>
            </a:r>
            <a:r>
              <a:rPr sz="3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pt-BR" sz="3000" b="1" dirty="0" smtClean="0">
                <a:solidFill>
                  <a:srgbClr val="FFFFFF"/>
                </a:solidFill>
                <a:latin typeface="Calibri"/>
              </a:rPr>
              <a:t>revelou</a:t>
            </a:r>
            <a:endParaRPr sz="3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1014983" cy="438912"/>
          </a:xfrm>
          <a:prstGeom prst="rect">
            <a:avLst/>
          </a:prstGeom>
          <a:solidFill>
            <a:srgbClr val="149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86868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Vídeo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280160"/>
            <a:ext cx="1289304" cy="438912"/>
          </a:xfrm>
          <a:prstGeom prst="rect">
            <a:avLst/>
          </a:prstGeom>
          <a:solidFill>
            <a:srgbClr val="149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1280160"/>
            <a:ext cx="11430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Montagem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1280160"/>
            <a:ext cx="1106424" cy="438912"/>
          </a:xfrm>
          <a:prstGeom prst="rect">
            <a:avLst/>
          </a:prstGeom>
          <a:solidFill>
            <a:srgbClr val="149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1280160"/>
            <a:ext cx="96012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Busca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280160"/>
            <a:ext cx="1380744" cy="438912"/>
          </a:xfrm>
          <a:prstGeom prst="rect">
            <a:avLst/>
          </a:prstGeom>
          <a:solidFill>
            <a:srgbClr val="149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1280160"/>
            <a:ext cx="123444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Interrupção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680" y="1280160"/>
            <a:ext cx="1289304" cy="438912"/>
          </a:xfrm>
          <a:prstGeom prst="rect">
            <a:avLst/>
          </a:prstGeom>
          <a:solidFill>
            <a:srgbClr val="149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1280160"/>
            <a:ext cx="11430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Produtivo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280160"/>
            <a:ext cx="4882896" cy="438912"/>
          </a:xfrm>
          <a:prstGeom prst="rect">
            <a:avLst/>
          </a:prstGeom>
          <a:solidFill>
            <a:srgbClr val="1496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1280160"/>
            <a:ext cx="4736592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Leitura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773936"/>
            <a:ext cx="1014983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1773936"/>
            <a:ext cx="8686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3F7F4"/>
                </a:solidFill>
                <a:latin typeface="Calibri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1773936"/>
            <a:ext cx="1289304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45920" y="1773936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B84A"/>
                </a:solidFill>
                <a:latin typeface="Calibri"/>
              </a:rPr>
              <a:t>53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0360" y="1773936"/>
            <a:ext cx="1106424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71800" y="1773936"/>
            <a:ext cx="96012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B84A"/>
                </a:solidFill>
                <a:latin typeface="Calibri"/>
              </a:rPr>
              <a:t>5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1773936"/>
            <a:ext cx="1380744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0" y="1773936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3F7F4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80" y="1773936"/>
            <a:ext cx="1289304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32120" y="1773936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B84A"/>
                </a:solidFill>
                <a:latin typeface="Calibri"/>
              </a:rPr>
              <a:t>58 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1773936"/>
            <a:ext cx="4882896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1773936"/>
            <a:ext cx="4736592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Montagem contínua, com duas buscas curtas de peça.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487168"/>
            <a:ext cx="1014983" cy="658368"/>
          </a:xfrm>
          <a:prstGeom prst="rect">
            <a:avLst/>
          </a:prstGeom>
          <a:solidFill>
            <a:srgbClr val="15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2487168"/>
            <a:ext cx="8686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3F7F4"/>
                </a:solidFill>
                <a:latin typeface="Calibri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2487168"/>
            <a:ext cx="1289304" cy="658368"/>
          </a:xfrm>
          <a:prstGeom prst="rect">
            <a:avLst/>
          </a:prstGeom>
          <a:solidFill>
            <a:srgbClr val="15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45920" y="2487168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B84A"/>
                </a:solidFill>
                <a:latin typeface="Calibri"/>
              </a:rPr>
              <a:t>56 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2487168"/>
            <a:ext cx="1106424" cy="658368"/>
          </a:xfrm>
          <a:prstGeom prst="rect">
            <a:avLst/>
          </a:prstGeom>
          <a:solidFill>
            <a:srgbClr val="15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71800" y="2487168"/>
            <a:ext cx="96012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3F7F4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0" y="2487168"/>
            <a:ext cx="1380744" cy="658368"/>
          </a:xfrm>
          <a:prstGeom prst="rect">
            <a:avLst/>
          </a:prstGeom>
          <a:solidFill>
            <a:srgbClr val="15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0" y="2487168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3F7F4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40680" y="2487168"/>
            <a:ext cx="1289304" cy="658368"/>
          </a:xfrm>
          <a:prstGeom prst="rect">
            <a:avLst/>
          </a:prstGeom>
          <a:solidFill>
            <a:srgbClr val="15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32120" y="2487168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B84A"/>
                </a:solidFill>
                <a:latin typeface="Calibri"/>
              </a:rPr>
              <a:t>56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2487168"/>
            <a:ext cx="4882896" cy="658368"/>
          </a:xfrm>
          <a:prstGeom prst="rect">
            <a:avLst/>
          </a:prstGeom>
          <a:solidFill>
            <a:srgbClr val="15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58000" y="2487168"/>
            <a:ext cx="4736592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Montagem manual do início ao fim da gravação.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200400"/>
            <a:ext cx="1014983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" y="3200400"/>
            <a:ext cx="8686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3F7F4"/>
                </a:solidFill>
                <a:latin typeface="Calibri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54480" y="3200400"/>
            <a:ext cx="1289304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645920" y="3200400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B84A"/>
                </a:solidFill>
                <a:latin typeface="Calibri"/>
              </a:rPr>
              <a:t>55 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0360" y="3200400"/>
            <a:ext cx="1106424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71800" y="3200400"/>
            <a:ext cx="96012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3F7F4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23360" y="3200400"/>
            <a:ext cx="1380744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14800" y="3200400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3F7F4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0680" y="3200400"/>
            <a:ext cx="1289304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32120" y="3200400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B84A"/>
                </a:solidFill>
                <a:latin typeface="Calibri"/>
              </a:rPr>
              <a:t>55 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66560" y="3200400"/>
            <a:ext cx="4882896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858000" y="3200400"/>
            <a:ext cx="4736592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Montagem manual, sem acionamento da maçaneta.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3913631"/>
            <a:ext cx="1014983" cy="658368"/>
          </a:xfrm>
          <a:prstGeom prst="rect">
            <a:avLst/>
          </a:prstGeom>
          <a:solidFill>
            <a:srgbClr val="15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94360" y="3913631"/>
            <a:ext cx="8686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3F7F4"/>
                </a:solidFill>
                <a:latin typeface="Calibri"/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54480" y="3913631"/>
            <a:ext cx="1289304" cy="658368"/>
          </a:xfrm>
          <a:prstGeom prst="rect">
            <a:avLst/>
          </a:prstGeom>
          <a:solidFill>
            <a:srgbClr val="15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645920" y="3913631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B84A"/>
                </a:solidFill>
                <a:latin typeface="Calibri"/>
              </a:rPr>
              <a:t>32 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80360" y="3913631"/>
            <a:ext cx="1106424" cy="658368"/>
          </a:xfrm>
          <a:prstGeom prst="rect">
            <a:avLst/>
          </a:prstGeom>
          <a:solidFill>
            <a:srgbClr val="15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971800" y="3913631"/>
            <a:ext cx="96012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B84A"/>
                </a:solidFill>
                <a:latin typeface="Calibri"/>
              </a:rPr>
              <a:t>4 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23360" y="3913631"/>
            <a:ext cx="1380744" cy="658368"/>
          </a:xfrm>
          <a:prstGeom prst="rect">
            <a:avLst/>
          </a:prstGeom>
          <a:solidFill>
            <a:srgbClr val="15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14800" y="3913631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B84A"/>
                </a:solidFill>
                <a:latin typeface="Calibri"/>
              </a:rPr>
              <a:t>10 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40680" y="3913631"/>
            <a:ext cx="1289304" cy="658368"/>
          </a:xfrm>
          <a:prstGeom prst="rect">
            <a:avLst/>
          </a:prstGeom>
          <a:solidFill>
            <a:srgbClr val="15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532120" y="3913631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B84A"/>
                </a:solidFill>
                <a:latin typeface="Calibri"/>
              </a:rPr>
              <a:t>36 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66560" y="3913631"/>
            <a:ext cx="4882896" cy="658368"/>
          </a:xfrm>
          <a:prstGeom prst="rect">
            <a:avLst/>
          </a:prstGeom>
          <a:solidFill>
            <a:srgbClr val="15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858000" y="3913631"/>
            <a:ext cx="4736592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Conversa de 10 s separada do tempo produtivo.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626864"/>
            <a:ext cx="1014983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4360" y="4626864"/>
            <a:ext cx="8686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3F7F4"/>
                </a:solidFill>
                <a:latin typeface="Calibri"/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54480" y="4626864"/>
            <a:ext cx="1289304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645920" y="4626864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B84A"/>
                </a:solidFill>
                <a:latin typeface="Calibri"/>
              </a:rPr>
              <a:t>6,4 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80360" y="4626864"/>
            <a:ext cx="1106424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971800" y="4626864"/>
            <a:ext cx="96012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3F7F4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23360" y="4626864"/>
            <a:ext cx="1380744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114800" y="4626864"/>
            <a:ext cx="123444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3F7F4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40680" y="4626864"/>
            <a:ext cx="1289304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532120" y="4626864"/>
            <a:ext cx="1143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B84A"/>
                </a:solidFill>
                <a:latin typeface="Calibri"/>
              </a:rPr>
              <a:t>6,4 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66560" y="4626864"/>
            <a:ext cx="4882896" cy="658368"/>
          </a:xfrm>
          <a:prstGeom prst="rect">
            <a:avLst/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58000" y="4626864"/>
            <a:ext cx="4736592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Gravação muito curta: só o início do manuseio.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EA398"/>
                </a:solidFill>
                <a:latin typeface="Calibri"/>
              </a:rPr>
              <a:t>Tempo produtivo soma montagem e busca. A interrupção fica de fora dessa soma. Em nenhum vídeo a maçaneta foi acionada: o ciclo oficial não fechou.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yclo-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712" y="164592"/>
            <a:ext cx="420624" cy="4206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2C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D4A0"/>
                </a:solidFill>
                <a:latin typeface="Calibri"/>
              </a:rPr>
              <a:t>LEITURA DO PILOTO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891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Três movimentos, com média e dispersão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2788920" cy="196596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35331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D4A0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38528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trechos de montagem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média 25,3 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mín. 3 s  ·  máx. 56 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234440"/>
            <a:ext cx="2788920" cy="196596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135331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D4A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1938528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buscas de peça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28600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média 3,0 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mín. 2 s  ·  máx. 4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234440"/>
            <a:ext cx="2788920" cy="196596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135331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D4A0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38528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interrupção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28600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10 s de conversa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isolada do produtivo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234440"/>
            <a:ext cx="2788920" cy="1965960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40" y="135331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DD4A0"/>
                </a:solidFill>
                <a:latin typeface="Calibri"/>
              </a:rPr>
              <a:t>221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1938528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tempo classificado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286000"/>
            <a:ext cx="24231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91% montagem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4% busca  ·  5% pausa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832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Composição dos 221 segundos classificados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49039"/>
            <a:ext cx="10193932" cy="256032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724284" y="3749039"/>
            <a:ext cx="431075" cy="256032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182791" y="3749039"/>
            <a:ext cx="475808" cy="256032"/>
          </a:xfrm>
          <a:prstGeom prst="rect">
            <a:avLst/>
          </a:prstGeom>
          <a:solidFill>
            <a:srgbClr val="EF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4160520"/>
            <a:ext cx="201168" cy="201168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11480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3F7F4"/>
                </a:solidFill>
                <a:latin typeface="Calibri"/>
              </a:rPr>
              <a:t>Montagem  ·  202 s  ·  91%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4160520"/>
            <a:ext cx="201168" cy="201168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1999" y="411480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3F7F4"/>
                </a:solidFill>
                <a:latin typeface="Calibri"/>
              </a:rPr>
              <a:t>Busca de peças  ·  9 s  ·  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4160520"/>
            <a:ext cx="201168" cy="201168"/>
          </a:xfrm>
          <a:prstGeom prst="rect">
            <a:avLst/>
          </a:prstGeom>
          <a:solidFill>
            <a:srgbClr val="EF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411480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3F7F4"/>
                </a:solidFill>
                <a:latin typeface="Calibri"/>
              </a:rPr>
              <a:t>Interrupção  ·  10 s  ·  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617720"/>
            <a:ext cx="5623560" cy="1783080"/>
          </a:xfrm>
          <a:prstGeom prst="roundRect">
            <a:avLst>
              <a:gd name="adj" fmla="val 6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473659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DD4A0"/>
                </a:solidFill>
                <a:latin typeface="Calibri"/>
              </a:rPr>
              <a:t>O que já dá para afirmar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074920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A busca é curta e estável, entre 2 e 4 segundos. A pausa de conversa foi identificada e retirada do tempo produtivo. O trabalho de montagem foi medido em todos os vídeos.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59" y="4617720"/>
            <a:ext cx="5623560" cy="1783080"/>
          </a:xfrm>
          <a:prstGeom prst="roundRect">
            <a:avLst>
              <a:gd name="adj" fmla="val 6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59" y="4736592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B84A"/>
                </a:solidFill>
                <a:latin typeface="Calibri"/>
              </a:rPr>
              <a:t>O que este número ainda representa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59" y="5074920"/>
            <a:ext cx="521208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A média de 25,3 s é a média dos trechos, porque alguns vídeos têm mais de um segmento. O tempo padrão nasce quando os ciclos fecham pelo critério da maçaneta, em amostra combinada com a engenharia.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yclo-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712" y="164592"/>
            <a:ext cx="420624" cy="4206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2C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01968"/>
            <a:ext cx="768096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EA398"/>
                </a:solidFill>
                <a:latin typeface="Calibri"/>
              </a:rPr>
              <a:t>Cyclo.ia  ·  Apresentação 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601968"/>
            <a:ext cx="2359152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EA398"/>
                </a:solidFill>
                <a:latin typeface="Calibri"/>
              </a:rPr>
              <a:t>12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D4A0"/>
                </a:solidFill>
                <a:latin typeface="Calibri"/>
              </a:rPr>
              <a:t>POTENCIAL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 que a empresa ganha quando o tempo vira 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7C7BE"/>
                </a:solidFill>
                <a:latin typeface="Calibri"/>
              </a:rPr>
              <a:t>Uma medição isolada informa. Uma base quantificada compara posto, turno, método e o antes e depois de cada mudança.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3657600" cy="2029968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783080"/>
            <a:ext cx="3657600" cy="73152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03911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Tempo de referência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Média de ciclos fechados, dispersão e folgas. O padrão deixa de ser um número único sem amostra.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783080"/>
            <a:ext cx="3657600" cy="2029968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1783080"/>
            <a:ext cx="3657600" cy="73152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203911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Capacidade do posto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6032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Ciclos por hora saem do tempo de ciclo. A engenharia vê quanto o posto realmente entrega.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783080"/>
            <a:ext cx="3657600" cy="2029968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80" y="1783080"/>
            <a:ext cx="3657600" cy="73152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203911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Custo do ciclo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6032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Tempo padrão em minutos vezes o custo do minuto de mão de obra. O ciclo ganha valor em reais.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77639"/>
            <a:ext cx="3657600" cy="2029968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3977639"/>
            <a:ext cx="3657600" cy="73152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2336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Perdas visíveis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54879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Busca, espera, conversa e retrabalho deixam de ser impressão e entram num Pareto, em segundos.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977639"/>
            <a:ext cx="3657600" cy="2029968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43400" y="3977639"/>
            <a:ext cx="3657600" cy="73152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42336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Balanceamento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754879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Cada posto comparado com o ritmo da linha. O desvio aparece em tempo, com tamanho.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3977639"/>
            <a:ext cx="3657600" cy="2029968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83880" y="3977639"/>
            <a:ext cx="3657600" cy="73152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0" y="42336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Melhoria comprovada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54879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O mesmo critério, antes e depois do ajuste. O ganho fica em segundos, peças e custo.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yclo-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712" y="164592"/>
            <a:ext cx="420624" cy="4206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2C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DD4A0"/>
                </a:solidFill>
                <a:latin typeface="Calibri"/>
              </a:rPr>
              <a:t>DA MEDIÇÃO À GESTÃO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891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3000" b="1" dirty="0" smtClean="0">
                <a:solidFill>
                  <a:srgbClr val="FFFFFF"/>
                </a:solidFill>
                <a:latin typeface="Calibri"/>
              </a:rPr>
              <a:t>Dados quantificados </a:t>
            </a:r>
            <a:endParaRPr sz="3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234440"/>
            <a:ext cx="11183112" cy="1143000"/>
          </a:xfrm>
          <a:prstGeom prst="roundRect">
            <a:avLst>
              <a:gd name="adj" fmla="val 5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99032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D4A0"/>
                </a:solidFill>
                <a:latin typeface="Calibri"/>
              </a:rPr>
              <a:t>Tempo padrão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38074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B84A"/>
                </a:solidFill>
                <a:latin typeface="Calibri"/>
              </a:rPr>
              <a:t>Tempo normal  ×  (1 + folgas)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801368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A média dos ciclos válidos vira a referência. Mínimo e máximo mostram se o posto está estável.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68880"/>
            <a:ext cx="11183112" cy="1143000"/>
          </a:xfrm>
          <a:prstGeom prst="roundRect">
            <a:avLst>
              <a:gd name="adj" fmla="val 5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633472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D4A0"/>
                </a:solidFill>
                <a:latin typeface="Calibri"/>
              </a:rPr>
              <a:t>Capacidade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61518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B84A"/>
                </a:solidFill>
                <a:latin typeface="Calibri"/>
              </a:rPr>
              <a:t>3.600  ÷  tempo de ciclo (s)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035808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Resultado em ciclos por hora, por posto. Serve para promessa de volume e para o balanceamento.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03320"/>
            <a:ext cx="11183112" cy="1143000"/>
          </a:xfrm>
          <a:prstGeom prst="roundRect">
            <a:avLst>
              <a:gd name="adj" fmla="val 5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867912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D4A0"/>
                </a:solidFill>
                <a:latin typeface="Calibri"/>
              </a:rPr>
              <a:t>Custo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84962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B84A"/>
                </a:solidFill>
                <a:latin typeface="Calibri"/>
              </a:rPr>
              <a:t>Tempo padrão (min)  ×  R$/min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270248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O ciclo passa a ter custo de mão de obra direto, comparável entre métodos.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37760"/>
            <a:ext cx="11183112" cy="1143000"/>
          </a:xfrm>
          <a:prstGeom prst="roundRect">
            <a:avLst>
              <a:gd name="adj" fmla="val 5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102352"/>
            <a:ext cx="22860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DD4A0"/>
                </a:solidFill>
                <a:latin typeface="Calibri"/>
              </a:rPr>
              <a:t>Perda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08406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B84A"/>
                </a:solidFill>
                <a:latin typeface="Calibri"/>
              </a:rPr>
              <a:t>Soma dos trechos de espera, busca e pausa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504688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7C7BE"/>
                </a:solidFill>
                <a:latin typeface="Calibri"/>
              </a:rPr>
              <a:t>No piloto, 10 s de conversa e 9 s de busca já estão separados dos 202 s de montagem.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yclo-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1712" y="164592"/>
            <a:ext cx="420624" cy="4206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65392"/>
            <a:ext cx="11183112" cy="9144"/>
          </a:xfrm>
          <a:prstGeom prst="rect">
            <a:avLst/>
          </a:prstGeom>
          <a:solidFill>
            <a:srgbClr val="2C3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3000" b="1" dirty="0" smtClean="0">
                <a:solidFill>
                  <a:srgbClr val="FFFFFF"/>
                </a:solidFill>
                <a:latin typeface="Calibri"/>
              </a:rPr>
              <a:t>Como implementar?</a:t>
            </a:r>
            <a:endParaRPr sz="3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657600" cy="2267712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D4A0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2763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Escolher o posto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Uma função com ciclo reconhecível, volume e interesse de melhoria. Um posto bem definido vale mais do que dez estudos rasos.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371600"/>
            <a:ext cx="3657600" cy="2267712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57276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D4A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62763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Escrever a régua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4028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O que inicia o ciclo, o que o encerra e quais perdas importam: busca, espera, conversa, retrabalho.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371600"/>
            <a:ext cx="3657600" cy="2267712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57276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D4A0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62763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Filmar ciclos fechados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4028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Uma amostra combinada com a engenharia, com o fechamento do ciclo visível. O piloto mostrou o valor disso.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94760"/>
            <a:ext cx="3657600" cy="2267712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99592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D4A0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5079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Validar no vídeo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Conferir juntos uma parte das marcações. Timestamp contra o que o analista vê. Ajustar o prompt se o nome do movimento variar.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794760"/>
            <a:ext cx="3657600" cy="2267712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399592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D4A0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05079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Publicar a referência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66344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Congelar média, dispersão e a composição de perdas. Esse é o número que operação, custos e melhoria passam a compartilhar.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794760"/>
            <a:ext cx="3657600" cy="2267712"/>
          </a:xfrm>
          <a:prstGeom prst="roundRect">
            <a:avLst>
              <a:gd name="adj" fmla="val 7000"/>
            </a:avLst>
          </a:prstGeom>
          <a:solidFill>
            <a:srgbClr val="1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3995928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D4A0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050792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Medir de novo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663440"/>
            <a:ext cx="320040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7C7BE"/>
                </a:solidFill>
                <a:latin typeface="Calibri"/>
              </a:rPr>
              <a:t>Depois de um ajuste de método, repetir com a mesma régua. O ganho aparece em segundos, na mesma 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yclo-i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097" y="2423160"/>
            <a:ext cx="2011680" cy="2011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43934" y="2971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dirty="0">
                <a:solidFill>
                  <a:srgbClr val="2DD4A0"/>
                </a:solidFill>
                <a:latin typeface="Calibri"/>
              </a:rPr>
              <a:t>CYCLO.IA</a:t>
            </a:r>
            <a:endParaRPr sz="1600" b="1" dirty="0">
              <a:solidFill>
                <a:srgbClr val="2DD4A0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89317" y="3739896"/>
            <a:ext cx="2781992" cy="45719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1468</Words>
  <Application>Microsoft Office PowerPoint</Application>
  <PresentationFormat>Widescreen</PresentationFormat>
  <Paragraphs>214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Gadugi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Cyclo.ia — Cronometragem operacional com IA</dc:title>
  <dc:subject>Apresentação comercial para cliente</dc:subject>
  <dc:creator>Cyclo.ia</dc:creator>
  <cp:keywords/>
  <dc:description>generated using python-pptx</dc:description>
  <cp:lastModifiedBy>Conta da Microsoft</cp:lastModifiedBy>
  <cp:revision>3</cp:revision>
  <dcterms:created xsi:type="dcterms:W3CDTF">2013-01-27T09:14:16Z</dcterms:created>
  <dcterms:modified xsi:type="dcterms:W3CDTF">2026-09-26T13:58:55Z</dcterms:modified>
  <cp:category>Apresentação comercial</cp:category>
</cp:coreProperties>
</file>